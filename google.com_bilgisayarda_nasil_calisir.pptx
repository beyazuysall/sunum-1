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6" r:id="rId17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slide" Target="slides/slide11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1201400" cy="58978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943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4375F"/>
                </a:solidFill>
                <a:latin typeface="Aptos"/>
              </a:rPr>
              <a:t>Tarayıcıya google.com Yazdığımızda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369DC"/>
                </a:solidFill>
                <a:latin typeface="Aptos"/>
              </a:rPr>
              <a:t>Arka planda neler oluyor?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23160"/>
            <a:ext cx="987552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46E7D"/>
                </a:solidFill>
                <a:latin typeface="Aptos"/>
              </a:rPr>
              <a:t>DNS → IP → TCP → TLS → HTTP → HTML/CSS/JS → Ekran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154680"/>
            <a:ext cx="2194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82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1005840" y="3154680"/>
            <a:ext cx="2194560" cy="228600"/>
          </a:xfrm>
          <a:prstGeom prst="roundRect">
            <a:avLst/>
          </a:prstGeom>
          <a:solidFill>
            <a:srgbClr val="EBEFF5"/>
          </a:solidFill>
          <a:ln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Oval 8"/>
          <p:cNvSpPr/>
          <p:nvPr/>
        </p:nvSpPr>
        <p:spPr>
          <a:xfrm>
            <a:off x="1097280" y="3236976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Oval 9"/>
          <p:cNvSpPr/>
          <p:nvPr/>
        </p:nvSpPr>
        <p:spPr>
          <a:xfrm>
            <a:off x="1243584" y="3236976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Oval 10"/>
          <p:cNvSpPr/>
          <p:nvPr/>
        </p:nvSpPr>
        <p:spPr>
          <a:xfrm>
            <a:off x="1389888" y="3236976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1170432" y="3511296"/>
            <a:ext cx="1865376" cy="256032"/>
          </a:xfrm>
          <a:prstGeom prst="roundRect">
            <a:avLst/>
          </a:prstGeom>
          <a:solidFill>
            <a:srgbClr val="F8FAFD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261872" y="3525012"/>
            <a:ext cx="1682495" cy="219456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2A34"/>
                </a:solidFill>
                <a:latin typeface="Aptos"/>
              </a:rPr>
              <a:t>google.com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0480"/>
            <a:ext cx="274320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69DC"/>
                </a:solidFill>
                <a:latin typeface="Aptos"/>
              </a:rPr>
              <a:t>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60" y="3886200"/>
            <a:ext cx="822960" cy="0"/>
          </a:xfrm>
          <a:prstGeom prst="line">
            <a:avLst/>
          </a:prstGeom>
          <a:ln w="2794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89120" y="3246120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Oval 16"/>
          <p:cNvSpPr/>
          <p:nvPr/>
        </p:nvSpPr>
        <p:spPr>
          <a:xfrm>
            <a:off x="4498848" y="3328415"/>
            <a:ext cx="73152" cy="73152"/>
          </a:xfrm>
          <a:prstGeom prst="ellipse">
            <a:avLst/>
          </a:prstGeom>
          <a:solidFill>
            <a:srgbClr val="2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4389120" y="3557015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Oval 18"/>
          <p:cNvSpPr/>
          <p:nvPr/>
        </p:nvSpPr>
        <p:spPr>
          <a:xfrm>
            <a:off x="4498848" y="3639311"/>
            <a:ext cx="73152" cy="73152"/>
          </a:xfrm>
          <a:prstGeom prst="ellipse">
            <a:avLst/>
          </a:prstGeom>
          <a:solidFill>
            <a:srgbClr val="2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4389120" y="3867911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Oval 20"/>
          <p:cNvSpPr/>
          <p:nvPr/>
        </p:nvSpPr>
        <p:spPr>
          <a:xfrm>
            <a:off x="4498848" y="3950207"/>
            <a:ext cx="73152" cy="73152"/>
          </a:xfrm>
          <a:prstGeom prst="ellipse">
            <a:avLst/>
          </a:prstGeom>
          <a:solidFill>
            <a:srgbClr val="2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297680" y="4206240"/>
            <a:ext cx="1417320" cy="3657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2A34"/>
                </a:solidFill>
                <a:latin typeface="Aptos"/>
              </a:rPr>
              <a:t>DNS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06440" y="3886200"/>
            <a:ext cx="822960" cy="0"/>
          </a:xfrm>
          <a:prstGeom prst="line">
            <a:avLst/>
          </a:prstGeom>
          <a:ln w="2794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03720" y="3246120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Oval 24"/>
          <p:cNvSpPr/>
          <p:nvPr/>
        </p:nvSpPr>
        <p:spPr>
          <a:xfrm>
            <a:off x="7013448" y="3328415"/>
            <a:ext cx="73152" cy="7315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6903720" y="3557015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Oval 26"/>
          <p:cNvSpPr/>
          <p:nvPr/>
        </p:nvSpPr>
        <p:spPr>
          <a:xfrm>
            <a:off x="7013448" y="3639311"/>
            <a:ext cx="73152" cy="7315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6903720" y="3867911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Oval 28"/>
          <p:cNvSpPr/>
          <p:nvPr/>
        </p:nvSpPr>
        <p:spPr>
          <a:xfrm>
            <a:off x="7013448" y="3950207"/>
            <a:ext cx="73152" cy="7315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812280" y="4206240"/>
            <a:ext cx="1417320" cy="3657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2A34"/>
                </a:solidFill>
                <a:latin typeface="Aptos"/>
              </a:rPr>
              <a:t>Google sunucusu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21040" y="3886200"/>
            <a:ext cx="822960" cy="0"/>
          </a:xfrm>
          <a:prstGeom prst="line">
            <a:avLst/>
          </a:prstGeom>
          <a:ln w="2794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372600" y="3246120"/>
            <a:ext cx="1417320" cy="1234440"/>
          </a:xfrm>
          <a:prstGeom prst="roundRect">
            <a:avLst/>
          </a:prstGeom>
          <a:solidFill>
            <a:srgbClr val="E5F8F2"/>
          </a:solidFill>
          <a:ln>
            <a:solidFill>
              <a:srgbClr val="37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9372600" y="3456432"/>
            <a:ext cx="1417320" cy="7315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7BE91"/>
                </a:solidFill>
                <a:latin typeface="Aptos"/>
              </a:rPr>
              <a:t>Google
sayfası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40280" y="5074920"/>
            <a:ext cx="7772400" cy="384048"/>
          </a:xfrm>
          <a:prstGeom prst="round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2240280" y="5084064"/>
            <a:ext cx="777240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Bu sunumun amacı: DNS, TCP/IP ve HTTP'nin görevlerini ayırmak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375F"/>
                </a:solidFill>
                <a:latin typeface="Aptos"/>
              </a:rPr>
              <a:t>1. Adres çubuğuna google.com yazıyoruz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69848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6E7D"/>
                </a:solidFill>
                <a:latin typeface="Aptos"/>
              </a:rPr>
              <a:t>İlk adım basit: tarayıcı, bir alan adıyla ne yapmak istediğimizi anlıyor.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2296" cy="4389120"/>
          </a:xfrm>
          <a:prstGeom prst="roundRect">
            <a:avLst/>
          </a:prstGeom>
          <a:solidFill>
            <a:srgbClr val="2369DC"/>
          </a:solidFill>
          <a:ln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Oval 6"/>
          <p:cNvSpPr/>
          <p:nvPr/>
        </p:nvSpPr>
        <p:spPr>
          <a:xfrm>
            <a:off x="914400" y="1527048"/>
            <a:ext cx="475488" cy="475488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75488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81328"/>
            <a:ext cx="4160520" cy="43891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Tarayıcı ne biliyor?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11680"/>
            <a:ext cx="4709160" cy="3520439"/>
          </a:xfrm>
          <a:prstGeom prst="rect">
            <a:avLst/>
          </a:prstGeom>
          <a:noFill/>
        </p:spPr>
        <p:txBody>
          <a:bodyPr wrap="square" anchor="t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2A34"/>
                </a:solidFill>
                <a:latin typeface="Aptos"/>
              </a:rPr>
              <a:t>Henüz Google'ın IP adresini bilmiyor olabilir.
“google.com” bir alan adıdır; bilgisayarların ağ üzerinde iletişim kurması için ise IP adresi gerekir.
Bu nedenle ilk önemli soru şudur:
“google.com hangi IP adresine karşılık geliyor?”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4754880" cy="3474720"/>
          </a:xfrm>
          <a:prstGeom prst="roundRect">
            <a:avLst/>
          </a:prstGeom>
          <a:solidFill>
            <a:srgbClr val="EFF6FF"/>
          </a:solidFill>
          <a:ln>
            <a:solidFill>
              <a:srgbClr val="BE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040880" y="2057400"/>
            <a:ext cx="34747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82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7040880" y="2057400"/>
            <a:ext cx="3474720" cy="228600"/>
          </a:xfrm>
          <a:prstGeom prst="roundRect">
            <a:avLst/>
          </a:prstGeom>
          <a:solidFill>
            <a:srgbClr val="EBEFF5"/>
          </a:solidFill>
          <a:ln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Oval 13"/>
          <p:cNvSpPr/>
          <p:nvPr/>
        </p:nvSpPr>
        <p:spPr>
          <a:xfrm>
            <a:off x="7132320" y="2139696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Oval 14"/>
          <p:cNvSpPr/>
          <p:nvPr/>
        </p:nvSpPr>
        <p:spPr>
          <a:xfrm>
            <a:off x="7278624" y="2139696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Oval 15"/>
          <p:cNvSpPr/>
          <p:nvPr/>
        </p:nvSpPr>
        <p:spPr>
          <a:xfrm>
            <a:off x="7424927" y="2139696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7205472" y="2414016"/>
            <a:ext cx="3145536" cy="256032"/>
          </a:xfrm>
          <a:prstGeom prst="roundRect">
            <a:avLst/>
          </a:prstGeom>
          <a:solidFill>
            <a:srgbClr val="F8FAFD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296912" y="2427732"/>
            <a:ext cx="2962656" cy="219456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2A34"/>
                </a:solidFill>
                <a:latin typeface="Aptos"/>
              </a:rPr>
              <a:t>google.com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743200"/>
            <a:ext cx="274320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69DC"/>
                </a:solidFill>
                <a:latin typeface="Aptos"/>
              </a:rPr>
              <a:t>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572000"/>
            <a:ext cx="1371600" cy="384048"/>
          </a:xfrm>
          <a:prstGeom prst="roundRect">
            <a:avLst/>
          </a:prstGeom>
          <a:solidFill>
            <a:srgbClr val="7D5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498079" y="4581144"/>
            <a:ext cx="137160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Alan adı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4572000"/>
            <a:ext cx="1737360" cy="384048"/>
          </a:xfrm>
          <a:prstGeom prst="round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052560" y="4581144"/>
            <a:ext cx="173736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Henüz IP değil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375F"/>
                </a:solidFill>
                <a:latin typeface="Aptos"/>
              </a:rPr>
              <a:t>2. DNS: Alan adını IP adresine çeviriyoruz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69848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6E7D"/>
                </a:solidFill>
                <a:latin typeface="Aptos"/>
              </a:rPr>
              <a:t>DNS, internetin “telefon rehberi” gibi düşünülebilir.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82296" cy="4480560"/>
          </a:xfrm>
          <a:prstGeom prst="roundRect">
            <a:avLst/>
          </a:prstGeom>
          <a:solidFill>
            <a:srgbClr val="2BD2CD"/>
          </a:solidFill>
          <a:ln>
            <a:solidFill>
              <a:srgbClr val="2B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Oval 6"/>
          <p:cNvSpPr/>
          <p:nvPr/>
        </p:nvSpPr>
        <p:spPr>
          <a:xfrm>
            <a:off x="822960" y="1435608"/>
            <a:ext cx="475488" cy="475488"/>
          </a:xfrm>
          <a:prstGeom prst="ellipse">
            <a:avLst/>
          </a:prstGeom>
          <a:solidFill>
            <a:srgbClr val="2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22960" y="1444752"/>
            <a:ext cx="475488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89888"/>
            <a:ext cx="2423160" cy="43891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Önce önbellek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20240"/>
            <a:ext cx="2971800" cy="3611880"/>
          </a:xfrm>
          <a:prstGeom prst="rect">
            <a:avLst/>
          </a:prstGeom>
          <a:noFill/>
        </p:spPr>
        <p:txBody>
          <a:bodyPr wrap="square" anchor="t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2A34"/>
                </a:solidFill>
                <a:latin typeface="Aptos"/>
              </a:rPr>
              <a:t>Tarayıcı, işletim sistemi veya yerel ağ daha önce google.com için IP öğrendiyse cevap hazır olabilir.
Buna DNS önbelleği (cache) denir.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82296" cy="4480560"/>
          </a:xfrm>
          <a:prstGeom prst="roundRect">
            <a:avLst/>
          </a:prstGeom>
          <a:solidFill>
            <a:srgbClr val="7D55DC"/>
          </a:solidFill>
          <a:ln>
            <a:solidFill>
              <a:srgbClr val="7D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Oval 12"/>
          <p:cNvSpPr/>
          <p:nvPr/>
        </p:nvSpPr>
        <p:spPr>
          <a:xfrm>
            <a:off x="4572000" y="1435608"/>
            <a:ext cx="475488" cy="475488"/>
          </a:xfrm>
          <a:prstGeom prst="ellipse">
            <a:avLst/>
          </a:prstGeom>
          <a:solidFill>
            <a:srgbClr val="7D5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572000" y="1444752"/>
            <a:ext cx="475488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389888"/>
            <a:ext cx="2423159" cy="43891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Önbellekte yoksa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1920240"/>
            <a:ext cx="2971800" cy="3611880"/>
          </a:xfrm>
          <a:prstGeom prst="rect">
            <a:avLst/>
          </a:prstGeom>
          <a:noFill/>
        </p:spPr>
        <p:txBody>
          <a:bodyPr wrap="square" anchor="t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2A34"/>
                </a:solidFill>
                <a:latin typeface="Aptos"/>
              </a:rPr>
              <a:t>Sorgu bir DNS çözümleyiciye (ISS'nin DNS'i, 8.8.8.8 gibi) gider.
Çözümleyici gerekirse sırayla Kök DNS → .com DNS → Google'ın yetkili DNS'ine sorar.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8092440" y="1234440"/>
            <a:ext cx="82296" cy="4480560"/>
          </a:xfrm>
          <a:prstGeom prst="roundRect">
            <a:avLst/>
          </a:prstGeom>
          <a:solidFill>
            <a:srgbClr val="37BE91"/>
          </a:solidFill>
          <a:ln>
            <a:solidFill>
              <a:srgbClr val="37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Oval 18"/>
          <p:cNvSpPr/>
          <p:nvPr/>
        </p:nvSpPr>
        <p:spPr>
          <a:xfrm>
            <a:off x="8321040" y="1435608"/>
            <a:ext cx="475488" cy="475488"/>
          </a:xfrm>
          <a:prstGeom prst="ellipse">
            <a:avLst/>
          </a:prstGeom>
          <a:solidFill>
            <a:srgbClr val="37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321040" y="1444752"/>
            <a:ext cx="475488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389888"/>
            <a:ext cx="2423159" cy="43891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Sonuç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1920240"/>
            <a:ext cx="2971800" cy="3611880"/>
          </a:xfrm>
          <a:prstGeom prst="rect">
            <a:avLst/>
          </a:prstGeom>
          <a:noFill/>
        </p:spPr>
        <p:txBody>
          <a:bodyPr wrap="square" anchor="t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2A34"/>
                </a:solidFill>
                <a:latin typeface="Aptos"/>
              </a:rPr>
              <a:t>DNS bize hedef sunucunun IP adresini verir (IPv4/IPv6, birden fazla olabilir).
Örneğin:
google.com
↓
142.250.x.x
Artık tarayıcı hedefin nerede olduğunu biliyor.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375F"/>
                </a:solidFill>
                <a:latin typeface="Aptos"/>
              </a:rPr>
              <a:t>3. Peki TCP/IP burada nerede devreye giriyor?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69848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6E7D"/>
                </a:solidFill>
                <a:latin typeface="Aptos"/>
              </a:rPr>
              <a:t>DNS de bir ağ iletişimidir; DNS sorgusunun kendisi de ağ üzerinden taşınır.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521208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375F"/>
                </a:solidFill>
                <a:latin typeface="Aptos"/>
              </a:rPr>
              <a:t>TCP/IP'yi bir “posta sistemi” gibi düşün: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480560" cy="530352"/>
          </a:xfrm>
          <a:prstGeom prst="roundRect">
            <a:avLst/>
          </a:prstGeom>
          <a:solidFill>
            <a:srgbClr val="7D5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508760" cy="38404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Uygulama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74519"/>
            <a:ext cx="2468880" cy="38404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DNS, HTTP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60320"/>
            <a:ext cx="4480560" cy="530352"/>
          </a:xfrm>
          <a:prstGeom prst="round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60120" y="2606039"/>
            <a:ext cx="1508760" cy="38404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Taşıma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06039"/>
            <a:ext cx="2468880" cy="38404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TCP / UDP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91840"/>
            <a:ext cx="4480560" cy="530352"/>
          </a:xfrm>
          <a:prstGeom prst="roundRect">
            <a:avLst/>
          </a:prstGeom>
          <a:solidFill>
            <a:srgbClr val="37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60120" y="3337560"/>
            <a:ext cx="1508760" cy="38404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İnternet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337560"/>
            <a:ext cx="2468880" cy="38404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23360"/>
            <a:ext cx="4480560" cy="530352"/>
          </a:xfrm>
          <a:prstGeom prst="roundRect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1508760" cy="38404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Ağ erişimi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069080"/>
            <a:ext cx="2468880" cy="38404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Ethernet / Wi‑Fi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325880"/>
            <a:ext cx="1188720" cy="3657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69DC"/>
                </a:solidFill>
                <a:latin typeface="Aptos"/>
              </a:rPr>
              <a:t>Önemli: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737360"/>
            <a:ext cx="4937760" cy="11430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2A34"/>
                </a:solidFill>
                <a:latin typeface="Aptos"/>
              </a:rPr>
              <a:t>TCP/IP tek bir “kablo” değildir.
Birbirinden farklı görevleri olan protokollerin birlikte çalıştığı bir modeldir.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200400"/>
            <a:ext cx="4983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5943600" y="3200400"/>
            <a:ext cx="82296" cy="1920240"/>
          </a:xfrm>
          <a:prstGeom prst="roundRect">
            <a:avLst/>
          </a:prstGeom>
          <a:solidFill>
            <a:srgbClr val="2BD2CD"/>
          </a:solidFill>
          <a:ln>
            <a:solidFill>
              <a:srgbClr val="2B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199632" y="3355848"/>
            <a:ext cx="4498848" cy="43891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Bu örnekte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3886200"/>
            <a:ext cx="4480560" cy="1051560"/>
          </a:xfrm>
          <a:prstGeom prst="rect">
            <a:avLst/>
          </a:prstGeom>
          <a:noFill/>
        </p:spPr>
        <p:txBody>
          <a:bodyPr wrap="square" anchor="t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2A34"/>
                </a:solidFill>
                <a:latin typeface="Aptos"/>
              </a:rPr>
              <a:t>DNS sorgusu genellikle UDP (port 53) üzerinden gider; yine IP ve taşıma katmanı kullanılır. Google'ın IP'sini öğrendikten sonra asıl web bağlantısına geçeriz.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375F"/>
                </a:solidFill>
                <a:latin typeface="Aptos"/>
              </a:rPr>
              <a:t>4. Google'ın IP adresine TCP bağlantısı kurulur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69848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6E7D"/>
                </a:solidFill>
                <a:latin typeface="Aptos"/>
              </a:rPr>
              <a:t>Tarayıcı varsayılan olarak HTTPS kullanır; bağlantı 443. porta kurulur.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2011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82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011680" cy="228600"/>
          </a:xfrm>
          <a:prstGeom prst="roundRect">
            <a:avLst/>
          </a:prstGeom>
          <a:solidFill>
            <a:srgbClr val="EBEFF5"/>
          </a:solidFill>
          <a:ln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Oval 6"/>
          <p:cNvSpPr/>
          <p:nvPr/>
        </p:nvSpPr>
        <p:spPr>
          <a:xfrm>
            <a:off x="868680" y="2048255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Oval 7"/>
          <p:cNvSpPr/>
          <p:nvPr/>
        </p:nvSpPr>
        <p:spPr>
          <a:xfrm>
            <a:off x="1014983" y="2048255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Oval 8"/>
          <p:cNvSpPr/>
          <p:nvPr/>
        </p:nvSpPr>
        <p:spPr>
          <a:xfrm>
            <a:off x="1161288" y="2048255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941832" y="2322576"/>
            <a:ext cx="1682496" cy="256032"/>
          </a:xfrm>
          <a:prstGeom prst="roundRect">
            <a:avLst/>
          </a:prstGeom>
          <a:solidFill>
            <a:srgbClr val="F8FAFD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33271" y="2336291"/>
            <a:ext cx="1499616" cy="219456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2A34"/>
                </a:solidFill>
                <a:latin typeface="Aptos"/>
              </a:rPr>
              <a:t>google.com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274320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69DC"/>
                </a:solidFill>
                <a:latin typeface="Aptos"/>
              </a:rPr>
              <a:t>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Oval 13"/>
          <p:cNvSpPr/>
          <p:nvPr/>
        </p:nvSpPr>
        <p:spPr>
          <a:xfrm>
            <a:off x="9162288" y="1911095"/>
            <a:ext cx="73152" cy="7315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9052560" y="2139696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Oval 15"/>
          <p:cNvSpPr/>
          <p:nvPr/>
        </p:nvSpPr>
        <p:spPr>
          <a:xfrm>
            <a:off x="9162288" y="2221991"/>
            <a:ext cx="73152" cy="7315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9052560" y="2450592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Oval 17"/>
          <p:cNvSpPr/>
          <p:nvPr/>
        </p:nvSpPr>
        <p:spPr>
          <a:xfrm>
            <a:off x="9162288" y="2532888"/>
            <a:ext cx="73152" cy="7315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961120" y="2788920"/>
            <a:ext cx="1417320" cy="3657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2A34"/>
                </a:solidFill>
                <a:latin typeface="Aptos"/>
              </a:rPr>
              <a:t>Google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2468880"/>
            <a:ext cx="5943600" cy="0"/>
          </a:xfrm>
          <a:prstGeom prst="line">
            <a:avLst/>
          </a:prstGeom>
          <a:ln w="3175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40680" y="2148840"/>
            <a:ext cx="502920" cy="3657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BE91"/>
                </a:solidFill>
                <a:latin typeface="Aptos"/>
              </a:rPr>
              <a:t>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017520"/>
            <a:ext cx="594360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2A34"/>
                </a:solidFill>
                <a:latin typeface="Aptos"/>
              </a:rPr>
              <a:t>Hedef adresi bulduk → şimdi güvenilir bir bağlantı kuruyoruz.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840480"/>
            <a:ext cx="1828800" cy="685800"/>
          </a:xfrm>
          <a:prstGeom prst="roundRect">
            <a:avLst/>
          </a:prstGeom>
          <a:solidFill>
            <a:srgbClr val="FF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2926080" y="3886200"/>
            <a:ext cx="1828800" cy="25603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142232"/>
            <a:ext cx="1828800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6E7D"/>
                </a:solidFill>
                <a:latin typeface="Aptos"/>
              </a:rPr>
              <a:t>Bağlantı isteği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00600" y="4160520"/>
            <a:ext cx="365760" cy="0"/>
          </a:xfrm>
          <a:prstGeom prst="line">
            <a:avLst/>
          </a:prstGeom>
          <a:ln w="27940">
            <a:solidFill>
              <a:srgbClr val="F5A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257800" y="3840480"/>
            <a:ext cx="1828800" cy="685800"/>
          </a:xfrm>
          <a:prstGeom prst="round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5257800" y="3886200"/>
            <a:ext cx="1828800" cy="25603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SYN-ACK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142232"/>
            <a:ext cx="1828800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6E7D"/>
                </a:solidFill>
                <a:latin typeface="Aptos"/>
              </a:rPr>
              <a:t>Sunucu kabul eder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32320" y="4160520"/>
            <a:ext cx="365759" cy="0"/>
          </a:xfrm>
          <a:prstGeom prst="line">
            <a:avLst/>
          </a:prstGeom>
          <a:ln w="27940">
            <a:solidFill>
              <a:srgbClr val="F5A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589520" y="3840480"/>
            <a:ext cx="1828800" cy="685800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7589520" y="3886200"/>
            <a:ext cx="1828800" cy="25603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142232"/>
            <a:ext cx="1828800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6E7D"/>
                </a:solidFill>
                <a:latin typeface="Aptos"/>
              </a:rPr>
              <a:t>Bağlantı tamam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5074920"/>
            <a:ext cx="3840480" cy="384048"/>
          </a:xfrm>
          <a:prstGeom prst="round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4206240" y="5084064"/>
            <a:ext cx="384048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A34"/>
                </a:solidFill>
                <a:latin typeface="Aptos"/>
              </a:rPr>
              <a:t>TCP 3'lü el sıkışma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375F"/>
                </a:solidFill>
                <a:latin typeface="Aptos"/>
              </a:rPr>
              <a:t>6. HTTP isteği gönderilir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69848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6E7D"/>
                </a:solidFill>
                <a:latin typeface="Aptos"/>
              </a:rPr>
              <a:t>TCP ve TLS hazır olduktan sonra uygulama katmanındaki HTTP devreye girer.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82296" cy="4389120"/>
          </a:xfrm>
          <a:prstGeom prst="roundRect">
            <a:avLst/>
          </a:prstGeom>
          <a:solidFill>
            <a:srgbClr val="E64B7D"/>
          </a:solidFill>
          <a:ln>
            <a:solidFill>
              <a:srgbClr val="E64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Oval 6"/>
          <p:cNvSpPr/>
          <p:nvPr/>
        </p:nvSpPr>
        <p:spPr>
          <a:xfrm>
            <a:off x="914400" y="1527048"/>
            <a:ext cx="475488" cy="475488"/>
          </a:xfrm>
          <a:prstGeom prst="ellipse">
            <a:avLst/>
          </a:prstGeom>
          <a:solidFill>
            <a:srgbClr val="E6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75488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81328"/>
            <a:ext cx="2606040" cy="43891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HTTP'nin görevi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11680"/>
            <a:ext cx="3154680" cy="3520439"/>
          </a:xfrm>
          <a:prstGeom prst="rect">
            <a:avLst/>
          </a:prstGeom>
          <a:noFill/>
        </p:spPr>
        <p:txBody>
          <a:bodyPr wrap="square" anchor="t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2A34"/>
                </a:solidFill>
                <a:latin typeface="Aptos"/>
              </a:rPr>
              <a:t>Tarayıcı sunucuya hangi kaynağı istediğini söyler.
Örneğin:
GET / HTTP/1.1
Host: google.com
“Bana bu web sayfasını gönder.” anlamına gelir.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417320"/>
            <a:ext cx="6309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257800" y="1691640"/>
            <a:ext cx="548640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375F"/>
                </a:solidFill>
                <a:latin typeface="Aptos"/>
              </a:rPr>
              <a:t>Katmanları ayıralım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2423160"/>
            <a:ext cx="1828800" cy="566928"/>
          </a:xfrm>
          <a:prstGeom prst="roundRect">
            <a:avLst/>
          </a:prstGeom>
          <a:solidFill>
            <a:srgbClr val="E6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532120" y="2487168"/>
            <a:ext cx="182880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487168"/>
            <a:ext cx="292608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2A34"/>
                </a:solidFill>
                <a:latin typeface="Aptos"/>
              </a:rPr>
              <a:t>Ne istiyorum?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3246120"/>
            <a:ext cx="1828800" cy="566928"/>
          </a:xfrm>
          <a:prstGeom prst="round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532120" y="3310127"/>
            <a:ext cx="182880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TCP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310127"/>
            <a:ext cx="292608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2A34"/>
                </a:solidFill>
                <a:latin typeface="Aptos"/>
              </a:rPr>
              <a:t>Nasıl güvenilir taşıyayım?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4069080"/>
            <a:ext cx="1828800" cy="566928"/>
          </a:xfrm>
          <a:prstGeom prst="roundRect">
            <a:avLst/>
          </a:prstGeom>
          <a:solidFill>
            <a:srgbClr val="37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532120" y="4133088"/>
            <a:ext cx="182880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133088"/>
            <a:ext cx="292608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2A34"/>
                </a:solidFill>
                <a:latin typeface="Aptos"/>
              </a:rPr>
              <a:t>Nereye göndereyim?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754880"/>
            <a:ext cx="539496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6E7D"/>
                </a:solidFill>
                <a:latin typeface="Aptos"/>
              </a:rPr>
              <a:t>İstek TLS ile şifrelenip hedefe taşınır.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375F"/>
                </a:solidFill>
                <a:latin typeface="Aptos"/>
              </a:rPr>
              <a:t>7. Sunucu cevap verir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69848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6E7D"/>
                </a:solidFill>
                <a:latin typeface="Aptos"/>
              </a:rPr>
              <a:t>Sunucu önce HTML'i gönderir; CSS ve JS ya içinde gelir ya da ayrı isteklerle indirilir.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Oval 5"/>
          <p:cNvSpPr/>
          <p:nvPr/>
        </p:nvSpPr>
        <p:spPr>
          <a:xfrm>
            <a:off x="1024128" y="1911095"/>
            <a:ext cx="73152" cy="7315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914400" y="2139696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Oval 7"/>
          <p:cNvSpPr/>
          <p:nvPr/>
        </p:nvSpPr>
        <p:spPr>
          <a:xfrm>
            <a:off x="1024128" y="2221991"/>
            <a:ext cx="73152" cy="7315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914400" y="2450592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Oval 9"/>
          <p:cNvSpPr/>
          <p:nvPr/>
        </p:nvSpPr>
        <p:spPr>
          <a:xfrm>
            <a:off x="1024128" y="2532888"/>
            <a:ext cx="73152" cy="7315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417320" cy="3657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2A34"/>
                </a:solidFill>
                <a:latin typeface="Aptos"/>
              </a:rPr>
              <a:t>Google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468880"/>
            <a:ext cx="2103120" cy="0"/>
          </a:xfrm>
          <a:prstGeom prst="line">
            <a:avLst/>
          </a:prstGeom>
          <a:ln w="2794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00600" y="1874519"/>
            <a:ext cx="237744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800600" y="2084831"/>
            <a:ext cx="2377440" cy="3657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69DC"/>
                </a:solidFill>
                <a:latin typeface="Aptos"/>
              </a:rPr>
              <a:t>HTTP 200 OK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2468880"/>
            <a:ext cx="2057400" cy="0"/>
          </a:xfrm>
          <a:prstGeom prst="line">
            <a:avLst/>
          </a:prstGeom>
          <a:ln w="2794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64040" y="182880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82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9464040" y="1828800"/>
            <a:ext cx="1828800" cy="228600"/>
          </a:xfrm>
          <a:prstGeom prst="roundRect">
            <a:avLst/>
          </a:prstGeom>
          <a:solidFill>
            <a:srgbClr val="EBEFF5"/>
          </a:solidFill>
          <a:ln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Oval 17"/>
          <p:cNvSpPr/>
          <p:nvPr/>
        </p:nvSpPr>
        <p:spPr>
          <a:xfrm>
            <a:off x="9555480" y="1911095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Oval 18"/>
          <p:cNvSpPr/>
          <p:nvPr/>
        </p:nvSpPr>
        <p:spPr>
          <a:xfrm>
            <a:off x="9701784" y="1911095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Oval 19"/>
          <p:cNvSpPr/>
          <p:nvPr/>
        </p:nvSpPr>
        <p:spPr>
          <a:xfrm>
            <a:off x="9848088" y="1911095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9628632" y="2185416"/>
            <a:ext cx="1499616" cy="256032"/>
          </a:xfrm>
          <a:prstGeom prst="roundRect">
            <a:avLst/>
          </a:prstGeom>
          <a:solidFill>
            <a:srgbClr val="F8FAFD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720072" y="2199132"/>
            <a:ext cx="1316736" cy="219456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2A34"/>
                </a:solidFill>
                <a:latin typeface="Aptos"/>
              </a:rPr>
              <a:t>google.com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514600"/>
            <a:ext cx="274320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69DC"/>
                </a:solidFill>
                <a:latin typeface="Aptos"/>
              </a:rPr>
              <a:t>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3840480"/>
            <a:ext cx="1828800" cy="960120"/>
          </a:xfrm>
          <a:prstGeom prst="roundRect">
            <a:avLst/>
          </a:prstGeom>
          <a:solidFill>
            <a:srgbClr val="E6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2834640" y="3950208"/>
            <a:ext cx="1828800" cy="6858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HTML
Yapı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3840480"/>
            <a:ext cx="1828800" cy="960120"/>
          </a:xfrm>
          <a:prstGeom prst="roundRect">
            <a:avLst/>
          </a:prstGeom>
          <a:solidFill>
            <a:srgbClr val="7D5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5303520" y="3950208"/>
            <a:ext cx="1828800" cy="6858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CSS
Görünüm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3840480"/>
            <a:ext cx="1828800" cy="960120"/>
          </a:xfrm>
          <a:prstGeom prst="round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7772400" y="3950208"/>
            <a:ext cx="1828800" cy="6858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JS
Etkileşim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166360"/>
            <a:ext cx="676656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Cevap aynı şifreli bağlantıdan döner.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375F"/>
                </a:solidFill>
                <a:latin typeface="Aptos"/>
              </a:rPr>
              <a:t>8. Tarayıcı gelen verileri işler ve sayfayı çizer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69848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6E7D"/>
                </a:solidFill>
                <a:latin typeface="Aptos"/>
              </a:rPr>
              <a:t>DOM ve CSSOM birleşip render tree olur; sonra yerleşim hesaplanır ve sayfa çizilir.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64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993392"/>
            <a:ext cx="182880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4B7D"/>
                </a:solidFill>
                <a:latin typeface="Aptos"/>
              </a:rPr>
              <a:t>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95728"/>
            <a:ext cx="1828800" cy="2743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6E7D"/>
                </a:solidFill>
                <a:latin typeface="Aptos"/>
              </a:rPr>
              <a:t>Sayfanın yapısı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79" y="2395728"/>
            <a:ext cx="320041" cy="0"/>
          </a:xfrm>
          <a:prstGeom prst="line">
            <a:avLst/>
          </a:prstGeom>
          <a:ln w="25400">
            <a:solidFill>
              <a:srgbClr val="E64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8288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3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880360" y="1993392"/>
            <a:ext cx="182880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69DC"/>
                </a:solidFill>
                <a:latin typeface="Aptos"/>
              </a:rPr>
              <a:t>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395728"/>
            <a:ext cx="1828800" cy="2743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6E7D"/>
                </a:solidFill>
                <a:latin typeface="Aptos"/>
              </a:rPr>
              <a:t>Ağaç yapısı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54879" y="2395728"/>
            <a:ext cx="320041" cy="0"/>
          </a:xfrm>
          <a:prstGeom prst="line">
            <a:avLst/>
          </a:prstGeom>
          <a:ln w="2540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18288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7D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166360" y="1993392"/>
            <a:ext cx="182880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D55DC"/>
                </a:solidFill>
                <a:latin typeface="Aptos"/>
              </a:rPr>
              <a:t>CSSOM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395728"/>
            <a:ext cx="1828800" cy="2743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6E7D"/>
                </a:solidFill>
                <a:latin typeface="Aptos"/>
              </a:rPr>
              <a:t>Stil kuralları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0880" y="2395728"/>
            <a:ext cx="320040" cy="0"/>
          </a:xfrm>
          <a:prstGeom prst="line">
            <a:avLst/>
          </a:prstGeom>
          <a:ln w="25400">
            <a:solidFill>
              <a:srgbClr val="7D5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52360" y="18288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5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452360" y="1993392"/>
            <a:ext cx="182880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A037"/>
                </a:solidFill>
                <a:latin typeface="Aptos"/>
              </a:rPr>
              <a:t>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395728"/>
            <a:ext cx="1828800" cy="2743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6E7D"/>
                </a:solidFill>
                <a:latin typeface="Aptos"/>
              </a:rPr>
              <a:t>Davranış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80" y="2395728"/>
            <a:ext cx="320040" cy="0"/>
          </a:xfrm>
          <a:prstGeom prst="line">
            <a:avLst/>
          </a:prstGeom>
          <a:ln w="25400">
            <a:solidFill>
              <a:srgbClr val="F5A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38360" y="18288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7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738360" y="1993392"/>
            <a:ext cx="182880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7BE91"/>
                </a:solidFill>
                <a:latin typeface="Aptos"/>
              </a:rPr>
              <a:t>Render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395728"/>
            <a:ext cx="1828800" cy="2743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6E7D"/>
                </a:solidFill>
                <a:latin typeface="Aptos"/>
              </a:rPr>
              <a:t>Yerleşim + çizim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3794760"/>
            <a:ext cx="2560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82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4800600" y="3794760"/>
            <a:ext cx="2560320" cy="228600"/>
          </a:xfrm>
          <a:prstGeom prst="roundRect">
            <a:avLst/>
          </a:prstGeom>
          <a:solidFill>
            <a:srgbClr val="EBEFF5"/>
          </a:solidFill>
          <a:ln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Oval 25"/>
          <p:cNvSpPr/>
          <p:nvPr/>
        </p:nvSpPr>
        <p:spPr>
          <a:xfrm>
            <a:off x="4892040" y="3877056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Oval 26"/>
          <p:cNvSpPr/>
          <p:nvPr/>
        </p:nvSpPr>
        <p:spPr>
          <a:xfrm>
            <a:off x="5038344" y="3877056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Oval 27"/>
          <p:cNvSpPr/>
          <p:nvPr/>
        </p:nvSpPr>
        <p:spPr>
          <a:xfrm>
            <a:off x="5184648" y="3877056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4965192" y="4151376"/>
            <a:ext cx="2231136" cy="256032"/>
          </a:xfrm>
          <a:prstGeom prst="roundRect">
            <a:avLst/>
          </a:prstGeom>
          <a:solidFill>
            <a:srgbClr val="F8FAFD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5056632" y="4165092"/>
            <a:ext cx="2048255" cy="219456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2A34"/>
                </a:solidFill>
                <a:latin typeface="Aptos"/>
              </a:rPr>
              <a:t>google.com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480560"/>
            <a:ext cx="274320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69DC"/>
                </a:solidFill>
                <a:latin typeface="Aptos"/>
              </a:rPr>
              <a:t>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5623560"/>
            <a:ext cx="4572000" cy="3657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7BE91"/>
                </a:solidFill>
                <a:latin typeface="Aptos"/>
              </a:rPr>
              <a:t>Sonuç: Google sayfasını görürüz.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375F"/>
                </a:solidFill>
                <a:latin typeface="Aptos"/>
              </a:rPr>
              <a:t>Büyük resmi tek bakışta görelim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69848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6E7D"/>
                </a:solidFill>
                <a:latin typeface="Aptos"/>
              </a:rPr>
              <a:t>DNS, TCP/IP ve HTTP aynı şey değildir; birlikte çalışırlar.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572768" cy="960120"/>
          </a:xfrm>
          <a:prstGeom prst="roundRect">
            <a:avLst/>
          </a:prstGeom>
          <a:solidFill>
            <a:srgbClr val="7D5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11480" y="1645920"/>
            <a:ext cx="1572768" cy="29260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google.com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1572768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Aptos"/>
              </a:rPr>
              <a:t>Alan adı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20824" y="1993392"/>
            <a:ext cx="292608" cy="0"/>
          </a:xfrm>
          <a:prstGeom prst="line">
            <a:avLst/>
          </a:prstGeom>
          <a:ln w="22860">
            <a:solidFill>
              <a:srgbClr val="232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50008" y="1508760"/>
            <a:ext cx="1572768" cy="960120"/>
          </a:xfrm>
          <a:prstGeom prst="roundRect">
            <a:avLst/>
          </a:prstGeom>
          <a:solidFill>
            <a:srgbClr val="2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350008" y="1645920"/>
            <a:ext cx="1572768" cy="29260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DNS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1965960"/>
            <a:ext cx="1572768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Aptos"/>
              </a:rPr>
              <a:t>IP'yi bul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59352" y="1993392"/>
            <a:ext cx="292608" cy="0"/>
          </a:xfrm>
          <a:prstGeom prst="line">
            <a:avLst/>
          </a:prstGeom>
          <a:ln w="22860">
            <a:solidFill>
              <a:srgbClr val="232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88536" y="1508760"/>
            <a:ext cx="1572768" cy="960120"/>
          </a:xfrm>
          <a:prstGeom prst="roundRect">
            <a:avLst/>
          </a:prstGeom>
          <a:solidFill>
            <a:srgbClr val="37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288536" y="1645920"/>
            <a:ext cx="1572768" cy="29260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1965960"/>
            <a:ext cx="1572768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Aptos"/>
              </a:rPr>
              <a:t>Hedefi bul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80" y="1993392"/>
            <a:ext cx="292608" cy="0"/>
          </a:xfrm>
          <a:prstGeom prst="line">
            <a:avLst/>
          </a:prstGeom>
          <a:ln w="22860">
            <a:solidFill>
              <a:srgbClr val="232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27064" y="1508760"/>
            <a:ext cx="1572768" cy="960120"/>
          </a:xfrm>
          <a:prstGeom prst="round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227064" y="1645920"/>
            <a:ext cx="1572768" cy="29260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TCP + TLS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1965960"/>
            <a:ext cx="1572768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Aptos"/>
              </a:rPr>
              <a:t>Güvenli bağlantı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36408" y="1993392"/>
            <a:ext cx="292608" cy="0"/>
          </a:xfrm>
          <a:prstGeom prst="line">
            <a:avLst/>
          </a:prstGeom>
          <a:ln w="22860">
            <a:solidFill>
              <a:srgbClr val="232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65592" y="1508760"/>
            <a:ext cx="1572768" cy="960120"/>
          </a:xfrm>
          <a:prstGeom prst="roundRect">
            <a:avLst/>
          </a:prstGeom>
          <a:solidFill>
            <a:srgbClr val="E6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165592" y="1645920"/>
            <a:ext cx="1572768" cy="29260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HTTP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1965960"/>
            <a:ext cx="1572768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Aptos"/>
              </a:rPr>
              <a:t>İsteği gönder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74936" y="1993392"/>
            <a:ext cx="292608" cy="0"/>
          </a:xfrm>
          <a:prstGeom prst="line">
            <a:avLst/>
          </a:prstGeom>
          <a:ln w="22860">
            <a:solidFill>
              <a:srgbClr val="232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04120" y="1508760"/>
            <a:ext cx="1572768" cy="960120"/>
          </a:xfrm>
          <a:prstGeom prst="roundRect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10104120" y="1645920"/>
            <a:ext cx="1572768" cy="292608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HTML/CSS/JS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1965960"/>
            <a:ext cx="1572768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Aptos"/>
              </a:rPr>
              <a:t>Sayfayı oluştur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24612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640080" y="3246120"/>
            <a:ext cx="82296" cy="2148840"/>
          </a:xfrm>
          <a:prstGeom prst="roundRect">
            <a:avLst/>
          </a:prstGeom>
          <a:solidFill>
            <a:srgbClr val="2BD2CD"/>
          </a:solidFill>
          <a:ln>
            <a:solidFill>
              <a:srgbClr val="2B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96112" y="3401568"/>
            <a:ext cx="2990087" cy="43891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DNS ≠ Router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3931920"/>
            <a:ext cx="2971800" cy="1280160"/>
          </a:xfrm>
          <a:prstGeom prst="rect">
            <a:avLst/>
          </a:prstGeom>
          <a:noFill/>
        </p:spPr>
        <p:txBody>
          <a:bodyPr wrap="square" anchor="t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2A34"/>
                </a:solidFill>
                <a:latin typeface="Aptos"/>
              </a:rPr>
              <a:t>DNS: Alan adını IP adresine çözer.
Router: Paketleri ağlar arasında doğru yöne iletir.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24612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Rounded Rectangle 32"/>
          <p:cNvSpPr/>
          <p:nvPr/>
        </p:nvSpPr>
        <p:spPr>
          <a:xfrm>
            <a:off x="4343400" y="3246120"/>
            <a:ext cx="82296" cy="2148840"/>
          </a:xfrm>
          <a:prstGeom prst="roundRect">
            <a:avLst/>
          </a:prstGeom>
          <a:solidFill>
            <a:srgbClr val="F5A037"/>
          </a:solidFill>
          <a:ln>
            <a:solidFill>
              <a:srgbClr val="F5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4599432" y="3401568"/>
            <a:ext cx="2990087" cy="43891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TCP ≠ 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2" y="3931920"/>
            <a:ext cx="2971800" cy="1280160"/>
          </a:xfrm>
          <a:prstGeom prst="rect">
            <a:avLst/>
          </a:prstGeom>
          <a:noFill/>
        </p:spPr>
        <p:txBody>
          <a:bodyPr wrap="square" anchor="t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2A34"/>
                </a:solidFill>
                <a:latin typeface="Aptos"/>
              </a:rPr>
              <a:t>IP: Paketlerin hedefe yönlendirilmesini sağlar.
TCP: Verinin güvenilir ve sıralı taşınmasını sağlar.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24612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7" name="Rounded Rectangle 36"/>
          <p:cNvSpPr/>
          <p:nvPr/>
        </p:nvSpPr>
        <p:spPr>
          <a:xfrm>
            <a:off x="8046720" y="3246120"/>
            <a:ext cx="82296" cy="2148840"/>
          </a:xfrm>
          <a:prstGeom prst="roundRect">
            <a:avLst/>
          </a:prstGeom>
          <a:solidFill>
            <a:srgbClr val="E64B7D"/>
          </a:solidFill>
          <a:ln>
            <a:solidFill>
              <a:srgbClr val="E64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8302752" y="3401568"/>
            <a:ext cx="2990088" cy="43891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HTTP ≠ TLS ≠ TCP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3931920"/>
            <a:ext cx="2971800" cy="1280160"/>
          </a:xfrm>
          <a:prstGeom prst="rect">
            <a:avLst/>
          </a:prstGeom>
          <a:noFill/>
        </p:spPr>
        <p:txBody>
          <a:bodyPr wrap="square" anchor="t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2A34"/>
                </a:solidFill>
                <a:latin typeface="Aptos"/>
              </a:rPr>
              <a:t>HTTP: Ne istediğimizi tanımlar.
TLS: İsteği şifreler.
TCP: Veriyi güvenilir taşır.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63040" y="5806440"/>
            <a:ext cx="9326880" cy="384048"/>
          </a:xfrm>
          <a:prstGeom prst="round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1463040" y="5815583"/>
            <a:ext cx="932688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Kısa cevap: TCP/IP, verinin bilgisayarlar arasında yolculuk etmesini sağlayan temel altyapıdır.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4375F"/>
                </a:solidFill>
                <a:latin typeface="Aptos"/>
              </a:rPr>
              <a:t>Aklında şu sırayı tut: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5943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69DC"/>
                </a:solidFill>
                <a:latin typeface="Aptos"/>
              </a:rPr>
              <a:t>Alan adı → DNS → IP → TCP → TLS → HTTP → Web sayfası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2468880"/>
            <a:ext cx="1051560" cy="1051560"/>
          </a:xfrm>
          <a:prstGeom prst="ellipse">
            <a:avLst/>
          </a:prstGeom>
          <a:solidFill>
            <a:srgbClr val="7D5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2633472"/>
            <a:ext cx="105156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691640" cy="32004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2A34"/>
                </a:solidFill>
                <a:latin typeface="Aptos"/>
              </a:rPr>
              <a:t>Adres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57400" y="2971800"/>
            <a:ext cx="9601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00400" y="2468880"/>
            <a:ext cx="1051560" cy="1051560"/>
          </a:xfrm>
          <a:prstGeom prst="ellipse">
            <a:avLst/>
          </a:prstGeom>
          <a:solidFill>
            <a:srgbClr val="37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200400" y="2633472"/>
            <a:ext cx="105156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657600"/>
            <a:ext cx="1691640" cy="32004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2A34"/>
                </a:solidFill>
                <a:latin typeface="Aptos"/>
              </a:rPr>
              <a:t>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97680" y="2971800"/>
            <a:ext cx="9601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440680" y="2468880"/>
            <a:ext cx="1051560" cy="1051560"/>
          </a:xfrm>
          <a:prstGeom prst="ellipse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440680" y="2633472"/>
            <a:ext cx="105156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657600"/>
            <a:ext cx="1691640" cy="32004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2A34"/>
                </a:solidFill>
                <a:latin typeface="Aptos"/>
              </a:rPr>
              <a:t>Güvenli bağlantı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37960" y="2971800"/>
            <a:ext cx="960119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680960" y="2468880"/>
            <a:ext cx="1051560" cy="1051560"/>
          </a:xfrm>
          <a:prstGeom prst="ellipse">
            <a:avLst/>
          </a:prstGeom>
          <a:solidFill>
            <a:srgbClr val="E6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80960" y="2633472"/>
            <a:ext cx="105156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657600"/>
            <a:ext cx="1691640" cy="32004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2A34"/>
                </a:solidFill>
                <a:latin typeface="Aptos"/>
              </a:rPr>
              <a:t>İstek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0" y="2971800"/>
            <a:ext cx="9601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921240" y="2468880"/>
            <a:ext cx="1051560" cy="1051560"/>
          </a:xfrm>
          <a:prstGeom prst="ellipse">
            <a:avLst/>
          </a:prstGeom>
          <a:solidFill>
            <a:srgbClr val="2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921240" y="2633472"/>
            <a:ext cx="105156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657600"/>
            <a:ext cx="1691640" cy="32004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2A34"/>
                </a:solidFill>
                <a:latin typeface="Aptos"/>
              </a:rPr>
              <a:t>Ekran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572000"/>
            <a:ext cx="850392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2103120" y="4754880"/>
            <a:ext cx="1920240" cy="32004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375F"/>
                </a:solidFill>
                <a:latin typeface="Aptos"/>
              </a:rPr>
              <a:t>En önemli ayrım: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645152"/>
            <a:ext cx="5989320" cy="5943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2A34"/>
                </a:solidFill>
                <a:latin typeface="Aptos"/>
              </a:rPr>
              <a:t>DNS adresi bulur.  IP hedefi belirler.  TCP güvenilir taşır.  TLS şifreler.  HTTP ne istediğimizi söyler.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375F"/>
                </a:solidFill>
                <a:latin typeface="Aptos"/>
              </a:rPr>
              <a:t>5. TLS ile bağlantı şifrelenir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69848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6E7D"/>
                </a:solidFill>
                <a:latin typeface="Aptos"/>
              </a:rPr>
              <a:t>Not: Google çoğu zaman HTTP/3 (UDP üzerinde QUIC) kullanır; orada TCP ve TLS adımları QUIC içinde birleşir.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2011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82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011680" cy="228600"/>
          </a:xfrm>
          <a:prstGeom prst="roundRect">
            <a:avLst/>
          </a:prstGeom>
          <a:solidFill>
            <a:srgbClr val="EBEFF5"/>
          </a:solidFill>
          <a:ln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Oval 6"/>
          <p:cNvSpPr/>
          <p:nvPr/>
        </p:nvSpPr>
        <p:spPr>
          <a:xfrm>
            <a:off x="868680" y="2048255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Oval 7"/>
          <p:cNvSpPr/>
          <p:nvPr/>
        </p:nvSpPr>
        <p:spPr>
          <a:xfrm>
            <a:off x="1014983" y="2048255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Oval 8"/>
          <p:cNvSpPr/>
          <p:nvPr/>
        </p:nvSpPr>
        <p:spPr>
          <a:xfrm>
            <a:off x="1161288" y="2048255"/>
            <a:ext cx="64008" cy="64008"/>
          </a:xfrm>
          <a:prstGeom prst="ellipse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941832" y="2322576"/>
            <a:ext cx="1682496" cy="256032"/>
          </a:xfrm>
          <a:prstGeom prst="roundRect">
            <a:avLst/>
          </a:prstGeom>
          <a:solidFill>
            <a:srgbClr val="F8FAFD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33271" y="2336291"/>
            <a:ext cx="1499616" cy="219456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2A34"/>
                </a:solidFill>
                <a:latin typeface="Aptos"/>
              </a:rPr>
              <a:t>google.com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274320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69DC"/>
                </a:solidFill>
                <a:latin typeface="Aptos"/>
              </a:rPr>
              <a:t>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Oval 13"/>
          <p:cNvSpPr/>
          <p:nvPr/>
        </p:nvSpPr>
        <p:spPr>
          <a:xfrm>
            <a:off x="9162288" y="1911095"/>
            <a:ext cx="73152" cy="7315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9052560" y="2139696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Oval 15"/>
          <p:cNvSpPr/>
          <p:nvPr/>
        </p:nvSpPr>
        <p:spPr>
          <a:xfrm>
            <a:off x="9162288" y="2221991"/>
            <a:ext cx="73152" cy="7315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9052560" y="2450592"/>
            <a:ext cx="12344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A0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Oval 17"/>
          <p:cNvSpPr/>
          <p:nvPr/>
        </p:nvSpPr>
        <p:spPr>
          <a:xfrm>
            <a:off x="9162288" y="2532888"/>
            <a:ext cx="73152" cy="73152"/>
          </a:xfrm>
          <a:prstGeom prst="ellipse">
            <a:avLst/>
          </a:prstGeom>
          <a:solidFill>
            <a:srgbClr val="23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961120" y="2788920"/>
            <a:ext cx="1417320" cy="3657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2A34"/>
                </a:solidFill>
                <a:latin typeface="Aptos"/>
              </a:rPr>
              <a:t>Google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2468880"/>
            <a:ext cx="5943600" cy="0"/>
          </a:xfrm>
          <a:prstGeom prst="line">
            <a:avLst/>
          </a:prstGeom>
          <a:ln w="31750">
            <a:solidFill>
              <a:srgbClr val="23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40680" y="2148840"/>
            <a:ext cx="1502920" cy="36576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BE91"/>
                </a:solidFill>
                <a:latin typeface="Apto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017520"/>
            <a:ext cx="5943600" cy="4114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2A34"/>
                </a:solidFill>
                <a:latin typeface="Aptos"/>
              </a:rPr>
              <a:t>TCP hazır → şimdi bağlantıyı şifreliyoruz.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840480"/>
            <a:ext cx="1828800" cy="685800"/>
          </a:xfrm>
          <a:prstGeom prst="roundRect">
            <a:avLst/>
          </a:prstGeom>
          <a:solidFill>
            <a:srgbClr val="FF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2926080" y="3886200"/>
            <a:ext cx="1828800" cy="25603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ClientHello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142232"/>
            <a:ext cx="1828800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6E7D"/>
                </a:solidFill>
                <a:latin typeface="Aptos"/>
              </a:rPr>
              <a:t>Şifreleme seçeneklerim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00600" y="4160520"/>
            <a:ext cx="365760" cy="0"/>
          </a:xfrm>
          <a:prstGeom prst="line">
            <a:avLst/>
          </a:prstGeom>
          <a:ln w="27940">
            <a:solidFill>
              <a:srgbClr val="F5A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257800" y="3840480"/>
            <a:ext cx="1828800" cy="685800"/>
          </a:xfrm>
          <a:prstGeom prst="round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5257800" y="3886200"/>
            <a:ext cx="1828800" cy="25603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ServerHello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142232"/>
            <a:ext cx="1828800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6E7D"/>
                </a:solidFill>
                <a:latin typeface="Aptos"/>
              </a:rPr>
              <a:t>Seçim + sertifika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32320" y="4160520"/>
            <a:ext cx="365759" cy="0"/>
          </a:xfrm>
          <a:prstGeom prst="line">
            <a:avLst/>
          </a:prstGeom>
          <a:ln w="27940">
            <a:solidFill>
              <a:srgbClr val="F5A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589520" y="3840480"/>
            <a:ext cx="1828800" cy="685800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7589520" y="3886200"/>
            <a:ext cx="1828800" cy="25603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375F"/>
                </a:solidFill>
                <a:latin typeface="Aptos"/>
              </a:rPr>
              <a:t>Anahtar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142232"/>
            <a:ext cx="1828800" cy="22860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6E7D"/>
                </a:solidFill>
                <a:latin typeface="Aptos"/>
              </a:rPr>
              <a:t>Ortak anahtar hazır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5074920"/>
            <a:ext cx="3840480" cy="384048"/>
          </a:xfrm>
          <a:prstGeom prst="round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4206240" y="5084064"/>
            <a:ext cx="3840480" cy="347472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A34"/>
                </a:solidFill>
                <a:latin typeface="Aptos"/>
              </a:rPr>
              <a:t>TLS el sıkışması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